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22918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188720"/>
            <a:ext cx="3657600" cy="3657600"/>
          </a:xfrm>
          <a:prstGeom prst="ellipse">
            <a:avLst/>
          </a:prstGeom>
          <a:solidFill>
            <a:srgbClr val="0A8A7C">
              <a:alpha val="15000"/>
            </a:srgbClr>
          </a:solidFill>
          <a:ln w="12700">
            <a:solidFill>
              <a:srgbClr val="0A8A7C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23760" y="-731520"/>
            <a:ext cx="2377440" cy="2377440"/>
          </a:xfrm>
          <a:prstGeom prst="ellipse">
            <a:avLst/>
          </a:prstGeom>
          <a:solidFill>
            <a:srgbClr val="0FC2B0">
              <a:alpha val="20000"/>
            </a:srgbClr>
          </a:solidFill>
          <a:ln w="12700">
            <a:solidFill>
              <a:srgbClr val="0FC2B0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3383280"/>
            <a:ext cx="2743200" cy="2743200"/>
          </a:xfrm>
          <a:prstGeom prst="ellipse">
            <a:avLst/>
          </a:prstGeom>
          <a:solidFill>
            <a:srgbClr val="0FC2B0">
              <a:alpha val="12000"/>
            </a:srgbClr>
          </a:solidFill>
          <a:ln w="12700">
            <a:solidFill>
              <a:srgbClr val="0FC2B0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A8A7C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274320"/>
            <a:ext cx="3108960" cy="384048"/>
          </a:xfrm>
          <a:prstGeom prst="rect">
            <a:avLst/>
          </a:prstGeom>
          <a:solidFill>
            <a:srgbClr val="0A8A7C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2743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NextHikes IT Solutions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" y="91440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47472" y="166420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FC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Large-Scale Industry Performance Dataset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47472" y="2267712"/>
            <a:ext cx="6583680" cy="36576"/>
          </a:xfrm>
          <a:prstGeom prst="rect">
            <a:avLst/>
          </a:prstGeom>
          <a:solidFill>
            <a:srgbClr val="0A8A7C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237744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100" dirty="0">
                <a:solidFill>
                  <a:srgbClr val="CBD5E1"/>
                </a:solidFill>
              </a:rPr>
              <a:t>Univariate  •  Bivariate  •  Multivariate Statistical Techniques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47472" y="2834640"/>
            <a:ext cx="1719072" cy="329184"/>
          </a:xfrm>
          <a:prstGeom prst="roundRect">
            <a:avLst>
              <a:gd name="adj" fmla="val 11111"/>
            </a:avLst>
          </a:prstGeom>
          <a:solidFill>
            <a:srgbClr val="102040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2834640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C2B0"/>
                </a:solidFill>
              </a:rPr>
              <a:t>15,000 Records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377440" y="2834640"/>
            <a:ext cx="1719072" cy="329184"/>
          </a:xfrm>
          <a:prstGeom prst="roundRect">
            <a:avLst>
              <a:gd name="adj" fmla="val 11111"/>
            </a:avLst>
          </a:prstGeom>
          <a:solidFill>
            <a:srgbClr val="102040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77440" y="2834640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C2B0"/>
                </a:solidFill>
              </a:rPr>
              <a:t>12 Variables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33088" y="2834640"/>
            <a:ext cx="1719072" cy="329184"/>
          </a:xfrm>
          <a:prstGeom prst="roundRect">
            <a:avLst>
              <a:gd name="adj" fmla="val 11111"/>
            </a:avLst>
          </a:prstGeom>
          <a:solidFill>
            <a:srgbClr val="102040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33088" y="2834640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C2B0"/>
                </a:solidFill>
              </a:rPr>
              <a:t>0 Missing Values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53328" y="2834640"/>
            <a:ext cx="1719072" cy="329184"/>
          </a:xfrm>
          <a:prstGeom prst="roundRect">
            <a:avLst>
              <a:gd name="adj" fmla="val 11111"/>
            </a:avLst>
          </a:prstGeom>
          <a:solidFill>
            <a:srgbClr val="102040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53328" y="2834640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C2B0"/>
                </a:solidFill>
              </a:rPr>
              <a:t>0 Duplicates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3401568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Presented by: [SWATI MAURYA]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47472" y="400507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Submission: 5th June, 2026  |  NextHikes IT Solutions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321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AGENDA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778240" y="0"/>
            <a:ext cx="365760" cy="713232"/>
          </a:xfrm>
          <a:prstGeom prst="rect">
            <a:avLst/>
          </a:prstGeom>
          <a:solidFill>
            <a:srgbClr val="0A8A7C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22960"/>
            <a:ext cx="85039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02336" y="914400"/>
            <a:ext cx="329184" cy="329184"/>
          </a:xfrm>
          <a:prstGeom prst="ellipse">
            <a:avLst/>
          </a:prstGeom>
          <a:solidFill>
            <a:srgbClr val="0A8A7C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9144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41248" y="8686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3E"/>
                </a:solidFill>
              </a:rPr>
              <a:t>Dataset Overview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41248" y="109728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Shape, data types, missing values, duplicates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408176"/>
            <a:ext cx="8503920" cy="512064"/>
          </a:xfrm>
          <a:prstGeom prst="rect">
            <a:avLst/>
          </a:prstGeom>
          <a:solidFill>
            <a:srgbClr val="E8EFF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" y="1499616"/>
            <a:ext cx="329184" cy="329184"/>
          </a:xfrm>
          <a:prstGeom prst="ellipse">
            <a:avLst/>
          </a:prstGeom>
          <a:solidFill>
            <a:srgbClr val="0A8A7C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" y="14996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41248" y="1453896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3E"/>
                </a:solidFill>
              </a:rPr>
              <a:t>Univariate Analysis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41248" y="1682496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Summary statistics — Mean, Median, Std, Min, Max per variable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1993392"/>
            <a:ext cx="85039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2336" y="2084832"/>
            <a:ext cx="329184" cy="329184"/>
          </a:xfrm>
          <a:prstGeom prst="ellipse">
            <a:avLst/>
          </a:prstGeom>
          <a:solidFill>
            <a:srgbClr val="0A8A7C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" y="20848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41248" y="203911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3E"/>
                </a:solidFill>
              </a:rPr>
              <a:t>Skewness &amp; Kurtosis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41248" y="2267712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Actual computed values with distribution interpretation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578608"/>
            <a:ext cx="8503920" cy="512064"/>
          </a:xfrm>
          <a:prstGeom prst="rect">
            <a:avLst/>
          </a:prstGeom>
          <a:solidFill>
            <a:srgbClr val="E8EFF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02336" y="2670048"/>
            <a:ext cx="329184" cy="329184"/>
          </a:xfrm>
          <a:prstGeom prst="ellipse">
            <a:avLst/>
          </a:prstGeom>
          <a:solidFill>
            <a:srgbClr val="0A8A7C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2336" y="2670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41248" y="262432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3E"/>
                </a:solidFill>
              </a:rPr>
              <a:t>Outlier Detection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41248" y="2852928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IQR &amp; Z-score methods — results from actual data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3163824"/>
            <a:ext cx="85039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02336" y="3255264"/>
            <a:ext cx="329184" cy="329184"/>
          </a:xfrm>
          <a:prstGeom prst="ellipse">
            <a:avLst/>
          </a:prstGeom>
          <a:solidFill>
            <a:srgbClr val="0A8A7C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2336" y="32552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41248" y="320954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3E"/>
                </a:solidFill>
              </a:rPr>
              <a:t>Correlation Analysis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41248" y="3438144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Pearson correlation matrix — bivariate relationships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3749040"/>
            <a:ext cx="8503920" cy="512064"/>
          </a:xfrm>
          <a:prstGeom prst="rect">
            <a:avLst/>
          </a:prstGeom>
          <a:solidFill>
            <a:srgbClr val="E8EFF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02336" y="3840480"/>
            <a:ext cx="329184" cy="329184"/>
          </a:xfrm>
          <a:prstGeom prst="ellipse">
            <a:avLst/>
          </a:prstGeom>
          <a:solidFill>
            <a:srgbClr val="0A8A7C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2336" y="3840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41248" y="37947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3E"/>
                </a:solidFill>
              </a:rPr>
              <a:t>Business Insights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41248" y="402336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Avg revenue, profit margin &amp; market rating by industry/country/region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0040" y="4334256"/>
            <a:ext cx="85039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02336" y="4425696"/>
            <a:ext cx="329184" cy="329184"/>
          </a:xfrm>
          <a:prstGeom prst="ellipse">
            <a:avLst/>
          </a:prstGeom>
          <a:solidFill>
            <a:srgbClr val="0A8A7C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02336" y="44256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07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41248" y="4379976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3E"/>
                </a:solidFill>
              </a:rPr>
              <a:t>Key Findings &amp; Conclusion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841248" y="4608576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10 key takeaways and strategic implications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321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Dataset Overview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778240" y="0"/>
            <a:ext cx="365760" cy="713232"/>
          </a:xfrm>
          <a:prstGeom prst="rect">
            <a:avLst/>
          </a:prstGeom>
          <a:solidFill>
            <a:srgbClr val="0A8A7C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2029968" cy="1005840"/>
          </a:xfrm>
          <a:prstGeom prst="rect">
            <a:avLst/>
          </a:prstGeom>
          <a:solidFill>
            <a:srgbClr val="0A8A7C"/>
          </a:solidFill>
          <a:ln w="12700">
            <a:solidFill>
              <a:srgbClr val="0A8A7C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841248"/>
            <a:ext cx="2029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15,000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74320" y="1426464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Total Records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50592" y="822960"/>
            <a:ext cx="2029968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50592" y="841248"/>
            <a:ext cx="2029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12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450592" y="1426464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Total Columns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26864" y="822960"/>
            <a:ext cx="2029968" cy="100584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26864" y="841248"/>
            <a:ext cx="2029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0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626864" y="1426464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Missing Values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03136" y="822960"/>
            <a:ext cx="2029968" cy="100584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03136" y="841248"/>
            <a:ext cx="2029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0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803136" y="1426464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Duplicate Records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1938528"/>
            <a:ext cx="4754880" cy="2944368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1938528"/>
            <a:ext cx="4754880" cy="347472"/>
          </a:xfrm>
          <a:prstGeom prst="rect">
            <a:avLst/>
          </a:prstGeom>
          <a:solidFill>
            <a:srgbClr val="0A8A7C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193852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All 12 Columns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74320" y="2340864"/>
            <a:ext cx="475488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359152"/>
            <a:ext cx="36576" cy="164592"/>
          </a:xfrm>
          <a:prstGeom prst="rect">
            <a:avLst/>
          </a:prstGeom>
          <a:solidFill>
            <a:srgbClr val="0A8A7C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340864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3E"/>
                </a:solidFill>
              </a:rPr>
              <a:t>id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993392" y="2340864"/>
            <a:ext cx="804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8A7C"/>
                </a:solidFill>
              </a:rPr>
              <a:t>Integer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834640" y="2340864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Unique identifier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2551176"/>
            <a:ext cx="4754880" cy="201168"/>
          </a:xfrm>
          <a:prstGeom prst="rect">
            <a:avLst/>
          </a:prstGeom>
          <a:solidFill>
            <a:srgbClr val="E8EFF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2569464"/>
            <a:ext cx="36576" cy="164592"/>
          </a:xfrm>
          <a:prstGeom prst="rect">
            <a:avLst/>
          </a:prstGeom>
          <a:solidFill>
            <a:srgbClr val="0A8A7C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2551176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3E"/>
                </a:solidFill>
              </a:rPr>
              <a:t>company_name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993392" y="2551176"/>
            <a:ext cx="804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8A7C"/>
                </a:solidFill>
              </a:rPr>
              <a:t>Text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834640" y="255117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Company name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74320" y="2761488"/>
            <a:ext cx="475488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2779776"/>
            <a:ext cx="36576" cy="164592"/>
          </a:xfrm>
          <a:prstGeom prst="rect">
            <a:avLst/>
          </a:prstGeom>
          <a:solidFill>
            <a:srgbClr val="0A8A7C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2761488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3E"/>
                </a:solidFill>
              </a:rPr>
              <a:t>industry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993392" y="2761488"/>
            <a:ext cx="804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8A7C"/>
                </a:solidFill>
              </a:rPr>
              <a:t>Category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834640" y="276148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5 types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74320" y="2971800"/>
            <a:ext cx="4754880" cy="201168"/>
          </a:xfrm>
          <a:prstGeom prst="rect">
            <a:avLst/>
          </a:prstGeom>
          <a:solidFill>
            <a:srgbClr val="E8EFF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" y="2990088"/>
            <a:ext cx="36576" cy="164592"/>
          </a:xfrm>
          <a:prstGeom prst="rect">
            <a:avLst/>
          </a:prstGeom>
          <a:solidFill>
            <a:srgbClr val="0A8A7C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2971800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3E"/>
                </a:solidFill>
              </a:rPr>
              <a:t>country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993392" y="2971800"/>
            <a:ext cx="804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8A7C"/>
                </a:solidFill>
              </a:rPr>
              <a:t>Category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834640" y="297180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4 countries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74320" y="3182112"/>
            <a:ext cx="475488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4320" y="3200400"/>
            <a:ext cx="36576" cy="164592"/>
          </a:xfrm>
          <a:prstGeom prst="rect">
            <a:avLst/>
          </a:prstGeom>
          <a:solidFill>
            <a:srgbClr val="0A8A7C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3182112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3E"/>
                </a:solidFill>
              </a:rPr>
              <a:t>employee_count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993392" y="3182112"/>
            <a:ext cx="804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8A7C"/>
                </a:solidFill>
              </a:rPr>
              <a:t>Numeric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2834640" y="3182112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100 – 5,099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74320" y="3392424"/>
            <a:ext cx="4754880" cy="201168"/>
          </a:xfrm>
          <a:prstGeom prst="rect">
            <a:avLst/>
          </a:prstGeom>
          <a:solidFill>
            <a:srgbClr val="E8EFF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74320" y="3410712"/>
            <a:ext cx="36576" cy="164592"/>
          </a:xfrm>
          <a:prstGeom prst="rect">
            <a:avLst/>
          </a:prstGeom>
          <a:solidFill>
            <a:srgbClr val="0A8A7C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3392424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3E"/>
                </a:solidFill>
              </a:rPr>
              <a:t>annual_revenue_million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993392" y="3392424"/>
            <a:ext cx="804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8A7C"/>
                </a:solidFill>
              </a:rPr>
              <a:t>Numeric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2834640" y="3392424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50.16 – 1,049.96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274320" y="3602736"/>
            <a:ext cx="475488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74320" y="3621024"/>
            <a:ext cx="36576" cy="164592"/>
          </a:xfrm>
          <a:prstGeom prst="rect">
            <a:avLst/>
          </a:prstGeom>
          <a:solidFill>
            <a:srgbClr val="0A8A7C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65760" y="3602736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3E"/>
                </a:solidFill>
              </a:rPr>
              <a:t>profit_margin_percent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993392" y="3602736"/>
            <a:ext cx="804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8A7C"/>
                </a:solidFill>
              </a:rPr>
              <a:t>Numeric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2834640" y="360273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5.00 – 45.00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274320" y="3813048"/>
            <a:ext cx="4754880" cy="201168"/>
          </a:xfrm>
          <a:prstGeom prst="rect">
            <a:avLst/>
          </a:prstGeom>
          <a:solidFill>
            <a:srgbClr val="E8EFF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74320" y="3831336"/>
            <a:ext cx="36576" cy="164592"/>
          </a:xfrm>
          <a:prstGeom prst="rect">
            <a:avLst/>
          </a:prstGeom>
          <a:solidFill>
            <a:srgbClr val="0A8A7C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65760" y="3813048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3E"/>
                </a:solidFill>
              </a:rPr>
              <a:t>founded_year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993392" y="3813048"/>
            <a:ext cx="804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8A7C"/>
                </a:solidFill>
              </a:rPr>
              <a:t>Numeric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2834640" y="381304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1990 – 2019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274320" y="4023360"/>
            <a:ext cx="475488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74320" y="4041648"/>
            <a:ext cx="36576" cy="164592"/>
          </a:xfrm>
          <a:prstGeom prst="rect">
            <a:avLst/>
          </a:prstGeom>
          <a:solidFill>
            <a:srgbClr val="0A8A7C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65760" y="4023360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3E"/>
                </a:solidFill>
              </a:rPr>
              <a:t>customer_count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1993392" y="4023360"/>
            <a:ext cx="804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8A7C"/>
                </a:solidFill>
              </a:rPr>
              <a:t>Numeric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2834640" y="402336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500 – 100,495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274320" y="4233672"/>
            <a:ext cx="4754880" cy="201168"/>
          </a:xfrm>
          <a:prstGeom prst="rect">
            <a:avLst/>
          </a:prstGeom>
          <a:solidFill>
            <a:srgbClr val="E8EFF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74320" y="4251960"/>
            <a:ext cx="36576" cy="164592"/>
          </a:xfrm>
          <a:prstGeom prst="rect">
            <a:avLst/>
          </a:prstGeom>
          <a:solidFill>
            <a:srgbClr val="0A8A7C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65760" y="4233672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3E"/>
                </a:solidFill>
              </a:rPr>
              <a:t>market_rating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1993392" y="4233672"/>
            <a:ext cx="804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8A7C"/>
                </a:solidFill>
              </a:rPr>
              <a:t>Numeric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2834640" y="4233672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0.0 – 5.0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274320" y="4443984"/>
            <a:ext cx="475488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74320" y="4462272"/>
            <a:ext cx="36576" cy="164592"/>
          </a:xfrm>
          <a:prstGeom prst="rect">
            <a:avLst/>
          </a:prstGeom>
          <a:solidFill>
            <a:srgbClr val="0A8A7C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65760" y="4443984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3E"/>
                </a:solidFill>
              </a:rPr>
              <a:t>created_date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1993392" y="4443984"/>
            <a:ext cx="804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8A7C"/>
                </a:solidFill>
              </a:rPr>
              <a:t>Date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2834640" y="4443984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Record timestamp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274320" y="4654296"/>
            <a:ext cx="4754880" cy="201168"/>
          </a:xfrm>
          <a:prstGeom prst="rect">
            <a:avLst/>
          </a:prstGeom>
          <a:solidFill>
            <a:srgbClr val="E8EFF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74320" y="4672584"/>
            <a:ext cx="36576" cy="164592"/>
          </a:xfrm>
          <a:prstGeom prst="rect">
            <a:avLst/>
          </a:prstGeom>
          <a:solidFill>
            <a:srgbClr val="0A8A7C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65760" y="4654296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3E"/>
                </a:solidFill>
              </a:rPr>
              <a:t>region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1993392" y="4654296"/>
            <a:ext cx="804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8A7C"/>
                </a:solidFill>
              </a:rPr>
              <a:t>Category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2834640" y="465429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3 regions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5212080" y="1938528"/>
            <a:ext cx="3657600" cy="2944368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5212080" y="1938528"/>
            <a:ext cx="3657600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212080" y="19385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Data Type Summary</a:t>
            </a:r>
            <a:endParaRPr lang="en-US" sz="1150" dirty="0"/>
          </a:p>
        </p:txBody>
      </p:sp>
      <p:sp>
        <p:nvSpPr>
          <p:cNvPr id="83" name="Shape 81"/>
          <p:cNvSpPr/>
          <p:nvPr/>
        </p:nvSpPr>
        <p:spPr>
          <a:xfrm>
            <a:off x="5285232" y="2359152"/>
            <a:ext cx="3511296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285232" y="2395728"/>
            <a:ext cx="54864" cy="512064"/>
          </a:xfrm>
          <a:prstGeom prst="rect">
            <a:avLst/>
          </a:prstGeom>
          <a:solidFill>
            <a:srgbClr val="0A8A7C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413248" y="2395728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Numerical (6 columns)</a:t>
            </a:r>
            <a:endParaRPr lang="en-US" sz="1100" dirty="0"/>
          </a:p>
        </p:txBody>
      </p:sp>
      <p:sp>
        <p:nvSpPr>
          <p:cNvPr id="86" name="Text 84"/>
          <p:cNvSpPr/>
          <p:nvPr/>
        </p:nvSpPr>
        <p:spPr>
          <a:xfrm>
            <a:off x="5413248" y="263347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employee_count, annual_revenue_million,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profit_margin_percent, founded_year,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customer_count, market_rating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5285232" y="3017520"/>
            <a:ext cx="3511296" cy="585216"/>
          </a:xfrm>
          <a:prstGeom prst="rect">
            <a:avLst/>
          </a:prstGeom>
          <a:solidFill>
            <a:srgbClr val="E8EFF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285232" y="3054096"/>
            <a:ext cx="54864" cy="512064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413248" y="3054096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Categorical (4 columns)</a:t>
            </a:r>
            <a:endParaRPr lang="en-US" sz="1100" dirty="0"/>
          </a:p>
        </p:txBody>
      </p:sp>
      <p:sp>
        <p:nvSpPr>
          <p:cNvPr id="90" name="Text 88"/>
          <p:cNvSpPr/>
          <p:nvPr/>
        </p:nvSpPr>
        <p:spPr>
          <a:xfrm>
            <a:off x="5413248" y="3291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industry, country, region, company_name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5285232" y="3675888"/>
            <a:ext cx="3511296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5285232" y="3712464"/>
            <a:ext cx="54864" cy="512064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413248" y="3712464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Date (1 column)</a:t>
            </a:r>
            <a:endParaRPr lang="en-US" sz="1100" dirty="0"/>
          </a:p>
        </p:txBody>
      </p:sp>
      <p:sp>
        <p:nvSpPr>
          <p:cNvPr id="94" name="Text 92"/>
          <p:cNvSpPr/>
          <p:nvPr/>
        </p:nvSpPr>
        <p:spPr>
          <a:xfrm>
            <a:off x="5413248" y="39502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created_date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5285232" y="4334256"/>
            <a:ext cx="3511296" cy="585216"/>
          </a:xfrm>
          <a:prstGeom prst="rect">
            <a:avLst/>
          </a:prstGeom>
          <a:solidFill>
            <a:srgbClr val="E8EFF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5285232" y="4370832"/>
            <a:ext cx="54864" cy="5120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413248" y="4370832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ID (1 column)</a:t>
            </a:r>
            <a:endParaRPr lang="en-US" sz="1100" dirty="0"/>
          </a:p>
        </p:txBody>
      </p:sp>
      <p:sp>
        <p:nvSpPr>
          <p:cNvPr id="98" name="Text 96"/>
          <p:cNvSpPr/>
          <p:nvPr/>
        </p:nvSpPr>
        <p:spPr>
          <a:xfrm>
            <a:off x="5413248" y="460857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id (unique identifier)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321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Univariate Analysis — Summary Statistics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778240" y="0"/>
            <a:ext cx="365760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7724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Computed from actual dataset (15,000 rows) • All values editable in PowerPoint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2331720" cy="365760"/>
          </a:xfrm>
          <a:prstGeom prst="rect">
            <a:avLst/>
          </a:prstGeom>
          <a:solidFill>
            <a:srgbClr val="0D1B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7899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Variable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606040" y="1078992"/>
            <a:ext cx="1051560" cy="365760"/>
          </a:xfrm>
          <a:prstGeom prst="rect">
            <a:avLst/>
          </a:prstGeom>
          <a:solidFill>
            <a:srgbClr val="0D1B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10789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Mean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0" y="1078992"/>
            <a:ext cx="1051560" cy="365760"/>
          </a:xfrm>
          <a:prstGeom prst="rect">
            <a:avLst/>
          </a:prstGeom>
          <a:solidFill>
            <a:srgbClr val="0D1B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10789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Median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09160" y="1078992"/>
            <a:ext cx="1051560" cy="365760"/>
          </a:xfrm>
          <a:prstGeom prst="rect">
            <a:avLst/>
          </a:prstGeom>
          <a:solidFill>
            <a:srgbClr val="0D1B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10789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Std Dev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760720" y="1078992"/>
            <a:ext cx="1051560" cy="365760"/>
          </a:xfrm>
          <a:prstGeom prst="rect">
            <a:avLst/>
          </a:prstGeom>
          <a:solidFill>
            <a:srgbClr val="0D1B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0" y="10789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Min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12280" y="1078992"/>
            <a:ext cx="1188720" cy="365760"/>
          </a:xfrm>
          <a:prstGeom prst="rect">
            <a:avLst/>
          </a:prstGeom>
          <a:solidFill>
            <a:srgbClr val="0D1B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2280" y="107899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Max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01000" y="1078992"/>
            <a:ext cx="1051560" cy="365760"/>
          </a:xfrm>
          <a:prstGeom prst="rect">
            <a:avLst/>
          </a:prstGeom>
          <a:solidFill>
            <a:srgbClr val="0D1B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01000" y="10789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Range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1463040"/>
            <a:ext cx="23317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1463040"/>
            <a:ext cx="2258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1B3E"/>
                </a:solidFill>
              </a:rPr>
              <a:t>employee_count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606040" y="1463040"/>
            <a:ext cx="10515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06040" y="1463040"/>
            <a:ext cx="1051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2,606.86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0" y="1463040"/>
            <a:ext cx="10515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0" y="1463040"/>
            <a:ext cx="1051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2,587.00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09160" y="1463040"/>
            <a:ext cx="10515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1463040"/>
            <a:ext cx="1051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1,430.56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760720" y="1463040"/>
            <a:ext cx="10515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0" y="1463040"/>
            <a:ext cx="1051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100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812280" y="1463040"/>
            <a:ext cx="11887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12280" y="1463040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5,099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001000" y="1463040"/>
            <a:ext cx="10515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01000" y="1463040"/>
            <a:ext cx="1051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4,999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1956816"/>
            <a:ext cx="2331720" cy="438912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" y="1956816"/>
            <a:ext cx="2258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1B3E"/>
                </a:solidFill>
              </a:rPr>
              <a:t>annual_revenue_million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606040" y="1956816"/>
            <a:ext cx="1051560" cy="438912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06040" y="1956816"/>
            <a:ext cx="1051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549.73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657600" y="1956816"/>
            <a:ext cx="1051560" cy="438912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0" y="1956816"/>
            <a:ext cx="1051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543.92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09160" y="1956816"/>
            <a:ext cx="1051560" cy="438912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1956816"/>
            <a:ext cx="1051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288.24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760720" y="1956816"/>
            <a:ext cx="1051560" cy="438912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60720" y="1956816"/>
            <a:ext cx="1051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50.16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812280" y="1956816"/>
            <a:ext cx="1188720" cy="438912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12280" y="1956816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1,049.96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001000" y="1956816"/>
            <a:ext cx="1051560" cy="438912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001000" y="1956816"/>
            <a:ext cx="1051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999.80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74320" y="2450592"/>
            <a:ext cx="23317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7472" y="2450592"/>
            <a:ext cx="2258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1B3E"/>
                </a:solidFill>
              </a:rPr>
              <a:t>profit_margin_percent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606040" y="2450592"/>
            <a:ext cx="10515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606040" y="2450592"/>
            <a:ext cx="1051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25.01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657600" y="2450592"/>
            <a:ext cx="10515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0" y="2450592"/>
            <a:ext cx="1051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24.91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709160" y="2450592"/>
            <a:ext cx="10515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09160" y="2450592"/>
            <a:ext cx="1051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11.53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5760720" y="2450592"/>
            <a:ext cx="10515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760720" y="2450592"/>
            <a:ext cx="1051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5.00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812280" y="2450592"/>
            <a:ext cx="11887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812280" y="2450592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45.00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8001000" y="2450592"/>
            <a:ext cx="10515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001000" y="2450592"/>
            <a:ext cx="1051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40.00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274320" y="2944368"/>
            <a:ext cx="2331720" cy="438912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47472" y="2944368"/>
            <a:ext cx="2258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1B3E"/>
                </a:solidFill>
              </a:rPr>
              <a:t>founded_year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2606040" y="2944368"/>
            <a:ext cx="1051560" cy="438912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606040" y="2944368"/>
            <a:ext cx="1051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2,004.37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3657600" y="2944368"/>
            <a:ext cx="1051560" cy="438912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657600" y="2944368"/>
            <a:ext cx="1051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2,004.00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4709160" y="2944368"/>
            <a:ext cx="1051560" cy="438912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709160" y="2944368"/>
            <a:ext cx="1051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8.61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5760720" y="2944368"/>
            <a:ext cx="1051560" cy="438912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760720" y="2944368"/>
            <a:ext cx="1051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1990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6812280" y="2944368"/>
            <a:ext cx="1188720" cy="438912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812280" y="2944368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2019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8001000" y="2944368"/>
            <a:ext cx="1051560" cy="438912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001000" y="2944368"/>
            <a:ext cx="1051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29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274320" y="3438144"/>
            <a:ext cx="23317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47472" y="3438144"/>
            <a:ext cx="2258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1B3E"/>
                </a:solidFill>
              </a:rPr>
              <a:t>customer_count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2606040" y="3438144"/>
            <a:ext cx="10515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606040" y="3438144"/>
            <a:ext cx="1051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50,449.25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3657600" y="3438144"/>
            <a:ext cx="10515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657600" y="3438144"/>
            <a:ext cx="1051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50,726.50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4709160" y="3438144"/>
            <a:ext cx="10515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709160" y="3438144"/>
            <a:ext cx="1051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28,744.64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5760720" y="3438144"/>
            <a:ext cx="10515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760720" y="3438144"/>
            <a:ext cx="1051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500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6812280" y="3438144"/>
            <a:ext cx="11887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812280" y="3438144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100,495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8001000" y="3438144"/>
            <a:ext cx="10515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8001000" y="3438144"/>
            <a:ext cx="1051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99,995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274320" y="3931920"/>
            <a:ext cx="2331720" cy="438912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47472" y="3931920"/>
            <a:ext cx="2258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1B3E"/>
                </a:solidFill>
              </a:rPr>
              <a:t>market_rating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2606040" y="3931920"/>
            <a:ext cx="1051560" cy="438912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2606040" y="3931920"/>
            <a:ext cx="1051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2.51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3657600" y="3931920"/>
            <a:ext cx="1051560" cy="438912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657600" y="3931920"/>
            <a:ext cx="1051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2.50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4709160" y="3931920"/>
            <a:ext cx="1051560" cy="438912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709160" y="3931920"/>
            <a:ext cx="1051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1.45</a:t>
            </a:r>
            <a:endParaRPr lang="en-US" sz="1000" dirty="0"/>
          </a:p>
        </p:txBody>
      </p:sp>
      <p:sp>
        <p:nvSpPr>
          <p:cNvPr id="98" name="Shape 96"/>
          <p:cNvSpPr/>
          <p:nvPr/>
        </p:nvSpPr>
        <p:spPr>
          <a:xfrm>
            <a:off x="5760720" y="3931920"/>
            <a:ext cx="1051560" cy="438912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5760720" y="3931920"/>
            <a:ext cx="1051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0.00</a:t>
            </a:r>
            <a:endParaRPr lang="en-US" sz="1000" dirty="0"/>
          </a:p>
        </p:txBody>
      </p:sp>
      <p:sp>
        <p:nvSpPr>
          <p:cNvPr id="100" name="Shape 98"/>
          <p:cNvSpPr/>
          <p:nvPr/>
        </p:nvSpPr>
        <p:spPr>
          <a:xfrm>
            <a:off x="6812280" y="3931920"/>
            <a:ext cx="1188720" cy="438912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812280" y="3931920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5.00</a:t>
            </a:r>
            <a:endParaRPr lang="en-US" sz="1000" dirty="0"/>
          </a:p>
        </p:txBody>
      </p:sp>
      <p:sp>
        <p:nvSpPr>
          <p:cNvPr id="102" name="Shape 100"/>
          <p:cNvSpPr/>
          <p:nvPr/>
        </p:nvSpPr>
        <p:spPr>
          <a:xfrm>
            <a:off x="8001000" y="3931920"/>
            <a:ext cx="1051560" cy="438912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8001000" y="3931920"/>
            <a:ext cx="1051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5.00</a:t>
            </a:r>
            <a:endParaRPr lang="en-US" sz="1000" dirty="0"/>
          </a:p>
        </p:txBody>
      </p:sp>
      <p:sp>
        <p:nvSpPr>
          <p:cNvPr id="104" name="Shape 102"/>
          <p:cNvSpPr/>
          <p:nvPr/>
        </p:nvSpPr>
        <p:spPr>
          <a:xfrm>
            <a:off x="274320" y="4498848"/>
            <a:ext cx="8595360" cy="420624"/>
          </a:xfrm>
          <a:prstGeom prst="rect">
            <a:avLst/>
          </a:prstGeom>
          <a:solidFill>
            <a:srgbClr val="102040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274320" y="449884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Note: Mean ≈ Median for all variables → Symmetric distributions | No extreme skew observed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321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Skewness &amp; Kurtosis — Actual Computed Values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778240" y="0"/>
            <a:ext cx="365760" cy="713232"/>
          </a:xfrm>
          <a:prstGeom prst="rect">
            <a:avLst/>
          </a:prstGeom>
          <a:solidFill>
            <a:srgbClr val="0A8A7C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4160520" cy="365760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4160520" cy="365760"/>
          </a:xfrm>
          <a:prstGeom prst="rect">
            <a:avLst/>
          </a:prstGeom>
          <a:solidFill>
            <a:srgbClr val="0A8A7C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2296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📊  Skewness Values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" y="1261872"/>
            <a:ext cx="400507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61872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</a:rPr>
              <a:t>employee_count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606040" y="1261872"/>
            <a:ext cx="777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8A7C"/>
                </a:solidFill>
              </a:rPr>
              <a:t>0.0023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29000" y="1335024"/>
            <a:ext cx="822960" cy="274320"/>
          </a:xfrm>
          <a:prstGeom prst="roundRect">
            <a:avLst>
              <a:gd name="adj" fmla="val 13333"/>
            </a:avLst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33502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66534"/>
                </a:solidFill>
              </a:rPr>
              <a:t>≈ 0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47472" y="1737360"/>
            <a:ext cx="4005072" cy="420624"/>
          </a:xfrm>
          <a:prstGeom prst="rect">
            <a:avLst/>
          </a:prstGeom>
          <a:solidFill>
            <a:srgbClr val="E8EFF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737360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</a:rPr>
              <a:t>annual_revenue_million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06040" y="1737360"/>
            <a:ext cx="777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8A7C"/>
                </a:solidFill>
              </a:rPr>
              <a:t>0.0273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429000" y="1810512"/>
            <a:ext cx="822960" cy="274320"/>
          </a:xfrm>
          <a:prstGeom prst="roundRect">
            <a:avLst>
              <a:gd name="adj" fmla="val 13333"/>
            </a:avLst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29000" y="18105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66534"/>
                </a:solidFill>
              </a:rPr>
              <a:t>≈ 0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47472" y="2212848"/>
            <a:ext cx="400507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212848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</a:rPr>
              <a:t>profit_margin_percent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06040" y="2212848"/>
            <a:ext cx="777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8A7C"/>
                </a:solidFill>
              </a:rPr>
              <a:t>0.0025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29000" y="2286000"/>
            <a:ext cx="822960" cy="274320"/>
          </a:xfrm>
          <a:prstGeom prst="roundRect">
            <a:avLst>
              <a:gd name="adj" fmla="val 13333"/>
            </a:avLst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29000" y="22860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66534"/>
                </a:solidFill>
              </a:rPr>
              <a:t>≈ 0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47472" y="2688336"/>
            <a:ext cx="4005072" cy="420624"/>
          </a:xfrm>
          <a:prstGeom prst="rect">
            <a:avLst/>
          </a:prstGeom>
          <a:solidFill>
            <a:srgbClr val="E8EFF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688336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</a:rPr>
              <a:t>founded_year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606040" y="2688336"/>
            <a:ext cx="777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8A7C"/>
                </a:solidFill>
              </a:rPr>
              <a:t>0.0206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429000" y="2761488"/>
            <a:ext cx="822960" cy="274320"/>
          </a:xfrm>
          <a:prstGeom prst="roundRect">
            <a:avLst>
              <a:gd name="adj" fmla="val 13333"/>
            </a:avLst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29000" y="27614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66534"/>
                </a:solidFill>
              </a:rPr>
              <a:t>≈ 0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47472" y="3163824"/>
            <a:ext cx="400507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163824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</a:rPr>
              <a:t>customer_count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606040" y="3163824"/>
            <a:ext cx="777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8A7C"/>
                </a:solidFill>
              </a:rPr>
              <a:t>−0.0048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429000" y="3236976"/>
            <a:ext cx="822960" cy="274320"/>
          </a:xfrm>
          <a:prstGeom prst="roundRect">
            <a:avLst>
              <a:gd name="adj" fmla="val 13333"/>
            </a:avLst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29000" y="323697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66534"/>
                </a:solidFill>
              </a:rPr>
              <a:t>≈ 0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47472" y="3639312"/>
            <a:ext cx="4005072" cy="420624"/>
          </a:xfrm>
          <a:prstGeom prst="rect">
            <a:avLst/>
          </a:prstGeom>
          <a:solidFill>
            <a:srgbClr val="E8EFF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639312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</a:rPr>
              <a:t>market_rating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606040" y="3639312"/>
            <a:ext cx="777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8A7C"/>
                </a:solidFill>
              </a:rPr>
              <a:t>−0.0200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429000" y="3712464"/>
            <a:ext cx="822960" cy="274320"/>
          </a:xfrm>
          <a:prstGeom prst="roundRect">
            <a:avLst>
              <a:gd name="adj" fmla="val 13333"/>
            </a:avLst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29000" y="37124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66534"/>
                </a:solidFill>
              </a:rPr>
              <a:t>≈ 0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47472" y="4151376"/>
            <a:ext cx="4005072" cy="256032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7472" y="4151376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66534"/>
                </a:solidFill>
              </a:rPr>
              <a:t>✓  All values close to zero → Symmetric distributions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663440" y="822960"/>
            <a:ext cx="4206240" cy="365760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663440" y="822960"/>
            <a:ext cx="4206240" cy="3657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63440" y="822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📉  Kurtosis Values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663440" y="1261872"/>
            <a:ext cx="4206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54880" y="1261872"/>
            <a:ext cx="2148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</a:rPr>
              <a:t>employee_count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931152" y="1261872"/>
            <a:ext cx="9326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</a:rPr>
              <a:t>−1.1877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7900416" y="1335024"/>
            <a:ext cx="896112" cy="274320"/>
          </a:xfrm>
          <a:prstGeom prst="roundRect">
            <a:avLst>
              <a:gd name="adj" fmla="val 13333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900416" y="1335024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</a:rPr>
              <a:t>Platy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63440" y="1737360"/>
            <a:ext cx="4206240" cy="420624"/>
          </a:xfrm>
          <a:prstGeom prst="rect">
            <a:avLst/>
          </a:prstGeom>
          <a:solidFill>
            <a:srgbClr val="E8EFF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54880" y="1737360"/>
            <a:ext cx="2148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</a:rPr>
              <a:t>annual_revenue_million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931152" y="1737360"/>
            <a:ext cx="9326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</a:rPr>
              <a:t>−1.1870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7900416" y="1810512"/>
            <a:ext cx="896112" cy="274320"/>
          </a:xfrm>
          <a:prstGeom prst="roundRect">
            <a:avLst>
              <a:gd name="adj" fmla="val 13333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900416" y="1810512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</a:rPr>
              <a:t>Platy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663440" y="2212848"/>
            <a:ext cx="4206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54880" y="2212848"/>
            <a:ext cx="2148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</a:rPr>
              <a:t>profit_margin_percent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931152" y="2212848"/>
            <a:ext cx="9326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</a:rPr>
              <a:t>−1.2025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7900416" y="2286000"/>
            <a:ext cx="896112" cy="274320"/>
          </a:xfrm>
          <a:prstGeom prst="roundRect">
            <a:avLst>
              <a:gd name="adj" fmla="val 13333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900416" y="228600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</a:rPr>
              <a:t>Platy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663440" y="2688336"/>
            <a:ext cx="4206240" cy="420624"/>
          </a:xfrm>
          <a:prstGeom prst="rect">
            <a:avLst/>
          </a:prstGeom>
          <a:solidFill>
            <a:srgbClr val="E8EFF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54880" y="2688336"/>
            <a:ext cx="2148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</a:rPr>
              <a:t>founded_year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931152" y="2688336"/>
            <a:ext cx="9326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</a:rPr>
              <a:t>−1.1896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7900416" y="2761488"/>
            <a:ext cx="896112" cy="274320"/>
          </a:xfrm>
          <a:prstGeom prst="roundRect">
            <a:avLst>
              <a:gd name="adj" fmla="val 13333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900416" y="2761488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</a:rPr>
              <a:t>Platy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663440" y="3163824"/>
            <a:ext cx="4206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754880" y="3163824"/>
            <a:ext cx="2148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</a:rPr>
              <a:t>customer_count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6931152" y="3163824"/>
            <a:ext cx="9326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</a:rPr>
              <a:t>−1.1947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7900416" y="3236976"/>
            <a:ext cx="896112" cy="274320"/>
          </a:xfrm>
          <a:prstGeom prst="roundRect">
            <a:avLst>
              <a:gd name="adj" fmla="val 13333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900416" y="3236976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</a:rPr>
              <a:t>Platy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663440" y="3639312"/>
            <a:ext cx="4206240" cy="420624"/>
          </a:xfrm>
          <a:prstGeom prst="rect">
            <a:avLst/>
          </a:prstGeom>
          <a:solidFill>
            <a:srgbClr val="E8EFF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754880" y="3639312"/>
            <a:ext cx="2148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</a:rPr>
              <a:t>market_rating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6931152" y="3639312"/>
            <a:ext cx="9326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</a:rPr>
              <a:t>−1.2057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7900416" y="3712464"/>
            <a:ext cx="896112" cy="274320"/>
          </a:xfrm>
          <a:prstGeom prst="roundRect">
            <a:avLst>
              <a:gd name="adj" fmla="val 13333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900416" y="3712464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</a:rPr>
              <a:t>Platy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4663440" y="4151376"/>
            <a:ext cx="4187952" cy="256032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663440" y="4151376"/>
            <a:ext cx="4187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C3AED"/>
                </a:solidFill>
              </a:rPr>
              <a:t>✓  All negative → Platykurtic (flatter = fewer extreme values)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321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Outlier Detection — IQR &amp; Z-Score Methods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778240" y="0"/>
            <a:ext cx="365760" cy="713232"/>
          </a:xfrm>
          <a:prstGeom prst="rect">
            <a:avLst/>
          </a:prstGeom>
          <a:solidFill>
            <a:srgbClr val="0A8A7C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3200400" cy="178308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3200400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229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Methods Applied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4320" y="1252728"/>
            <a:ext cx="54864" cy="320040"/>
          </a:xfrm>
          <a:prstGeom prst="rect">
            <a:avLst/>
          </a:prstGeom>
          <a:solidFill>
            <a:srgbClr val="0A8A7C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" y="1234440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IQR Method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02336" y="1453896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Outlier if &lt; Q1−1.5×IQR  or  &gt; Q3+1.5×IQR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1682496"/>
            <a:ext cx="54864" cy="320040"/>
          </a:xfrm>
          <a:prstGeom prst="rect">
            <a:avLst/>
          </a:prstGeom>
          <a:solidFill>
            <a:srgbClr val="0A8A7C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" y="1664208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Z-Score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02336" y="1883664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Outlier if |Z| &gt; 3 (beyond 3 std deviations)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112264"/>
            <a:ext cx="54864" cy="320040"/>
          </a:xfrm>
          <a:prstGeom prst="rect">
            <a:avLst/>
          </a:prstGeom>
          <a:solidFill>
            <a:srgbClr val="0A8A7C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" y="2093976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Boxplot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02336" y="2313432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Visual detection beyond whiskers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0" y="822960"/>
            <a:ext cx="5212080" cy="178308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0" y="822960"/>
            <a:ext cx="5212080" cy="347472"/>
          </a:xfrm>
          <a:prstGeom prst="rect">
            <a:avLst/>
          </a:prstGeom>
          <a:solidFill>
            <a:srgbClr val="0A8A7C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0" y="82296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IQR Results (Actual Values)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57600" y="1234440"/>
            <a:ext cx="52120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49040" y="1234440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</a:rPr>
              <a:t>employee_count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577840" y="1234440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Q1=1,379 | Q3=3,839 | IQR=2,460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8092440" y="1271016"/>
            <a:ext cx="640080" cy="237744"/>
          </a:xfrm>
          <a:prstGeom prst="roundRect">
            <a:avLst>
              <a:gd name="adj" fmla="val 15385"/>
            </a:avLst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92440" y="127101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6534"/>
                </a:solidFill>
              </a:rPr>
              <a:t>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0" y="1572768"/>
            <a:ext cx="5212080" cy="310896"/>
          </a:xfrm>
          <a:prstGeom prst="rect">
            <a:avLst/>
          </a:prstGeom>
          <a:solidFill>
            <a:srgbClr val="E8EFF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49040" y="1572768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</a:rPr>
              <a:t>annual_revenue_million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577840" y="1572768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Q1=299.92 | Q3=797.57 | IQR=497.66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8092440" y="1609344"/>
            <a:ext cx="640080" cy="237744"/>
          </a:xfrm>
          <a:prstGeom prst="roundRect">
            <a:avLst>
              <a:gd name="adj" fmla="val 15385"/>
            </a:avLst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92440" y="160934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6534"/>
                </a:solidFill>
              </a:rPr>
              <a:t>0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0" y="1911096"/>
            <a:ext cx="52120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49040" y="1911096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</a:rPr>
              <a:t>profit_margin_percent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577840" y="1911096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Q1=15.05 | Q3=35.10 | IQR=20.05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8092440" y="1947672"/>
            <a:ext cx="640080" cy="237744"/>
          </a:xfrm>
          <a:prstGeom prst="roundRect">
            <a:avLst>
              <a:gd name="adj" fmla="val 15385"/>
            </a:avLst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92440" y="194767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6534"/>
                </a:solidFill>
              </a:rPr>
              <a:t>0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0" y="2249424"/>
            <a:ext cx="5212080" cy="310896"/>
          </a:xfrm>
          <a:prstGeom prst="rect">
            <a:avLst/>
          </a:prstGeom>
          <a:solidFill>
            <a:srgbClr val="E8EFF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49040" y="2249424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</a:rPr>
              <a:t>customer_count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577840" y="2249424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Q1=25,676 | Q3=75,271 | IQR=49,595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8092440" y="2286000"/>
            <a:ext cx="640080" cy="237744"/>
          </a:xfrm>
          <a:prstGeom prst="roundRect">
            <a:avLst>
              <a:gd name="adj" fmla="val 15385"/>
            </a:avLst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92440" y="22860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6534"/>
                </a:solidFill>
              </a:rPr>
              <a:t>0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4320" y="2697480"/>
            <a:ext cx="8595360" cy="658368"/>
          </a:xfrm>
          <a:prstGeom prst="rect">
            <a:avLst/>
          </a:prstGeom>
          <a:solidFill>
            <a:srgbClr val="0A8A7C"/>
          </a:solidFill>
          <a:ln w="12700">
            <a:solidFill>
              <a:srgbClr val="0A8A7C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274320" y="269748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RESULT:  0 Outliers in all numerical columns (IQR Method)  •  0 Outliers (Z-Score Method)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No significant outliers detected — Data is clean and complete.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74320" y="3456432"/>
            <a:ext cx="8595360" cy="14630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en-IN" dirty="0"/>
          </a:p>
        </p:txBody>
      </p:sp>
      <p:sp>
        <p:nvSpPr>
          <p:cNvPr id="43" name="Shape 41"/>
          <p:cNvSpPr/>
          <p:nvPr/>
        </p:nvSpPr>
        <p:spPr>
          <a:xfrm>
            <a:off x="274320" y="3456432"/>
            <a:ext cx="8595360" cy="29260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4320" y="345643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Boxplot Graphs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74320" y="3767328"/>
            <a:ext cx="859536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BD5E1"/>
                </a:solidFill>
              </a:rPr>
              <a:t>t</a:t>
            </a:r>
            <a:endParaRPr lang="en-US" sz="1100" dirty="0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8CEF704C-6507-345B-D2AE-E43DC236C2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1" y="3767329"/>
            <a:ext cx="3284806" cy="1252728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A50C4478-26C1-18CC-7CA5-E0B17597DA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240" y="3767329"/>
            <a:ext cx="2697480" cy="12527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321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Correlation Analysis — Pearson Correlation Values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778240" y="0"/>
            <a:ext cx="365760" cy="713232"/>
          </a:xfrm>
          <a:prstGeom prst="rect">
            <a:avLst/>
          </a:prstGeom>
          <a:solidFill>
            <a:srgbClr val="0A8A7C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68096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Pearson correlation computed from actual dataset. All values extremely close to zero.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060704"/>
            <a:ext cx="2743200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6070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Variable 1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017520" y="1060704"/>
            <a:ext cx="2743200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0" y="106070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Variable 2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760720" y="1060704"/>
            <a:ext cx="1188720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0" y="106070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Pearson 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949440" y="1060704"/>
            <a:ext cx="2103120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0" y="106070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Interpretation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1426464"/>
            <a:ext cx="2743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1426464"/>
            <a:ext cx="25968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</a:rPr>
              <a:t>employee_count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017520" y="1426464"/>
            <a:ext cx="2743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90672" y="1426464"/>
            <a:ext cx="25968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</a:rPr>
              <a:t>annual_revenue_million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760720" y="1426464"/>
            <a:ext cx="11887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33872" y="1426464"/>
            <a:ext cx="10424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4748B"/>
                </a:solidFill>
              </a:rPr>
              <a:t>−0.002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949440" y="1426464"/>
            <a:ext cx="21031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59168" y="1499616"/>
            <a:ext cx="1883664" cy="256032"/>
          </a:xfrm>
          <a:prstGeom prst="roundRect">
            <a:avLst>
              <a:gd name="adj" fmla="val 14286"/>
            </a:avLst>
          </a:prstGeom>
          <a:solidFill>
            <a:srgbClr val="E2E8F0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59168" y="1499616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75569"/>
                </a:solidFill>
              </a:rPr>
              <a:t>Negligible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1883664"/>
            <a:ext cx="274320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1883664"/>
            <a:ext cx="25968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</a:rPr>
              <a:t>annual_revenue_million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017520" y="1883664"/>
            <a:ext cx="274320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90672" y="1883664"/>
            <a:ext cx="25968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</a:rPr>
              <a:t>profit_margin_percent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760720" y="1883664"/>
            <a:ext cx="118872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33872" y="1883664"/>
            <a:ext cx="10424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4748B"/>
                </a:solidFill>
              </a:rPr>
              <a:t>−0.003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949440" y="1883664"/>
            <a:ext cx="210312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059168" y="1956816"/>
            <a:ext cx="1883664" cy="256032"/>
          </a:xfrm>
          <a:prstGeom prst="roundRect">
            <a:avLst>
              <a:gd name="adj" fmla="val 14286"/>
            </a:avLst>
          </a:prstGeom>
          <a:solidFill>
            <a:srgbClr val="E2E8F0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59168" y="1956816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75569"/>
                </a:solidFill>
              </a:rPr>
              <a:t>Negligible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4320" y="2340864"/>
            <a:ext cx="2743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" y="2340864"/>
            <a:ext cx="25968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</a:rPr>
              <a:t>profit_margin_percent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017520" y="2340864"/>
            <a:ext cx="2743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90672" y="2340864"/>
            <a:ext cx="25968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</a:rPr>
              <a:t>market_rating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760720" y="2340864"/>
            <a:ext cx="11887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33872" y="2340864"/>
            <a:ext cx="10424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4748B"/>
                </a:solidFill>
              </a:rPr>
              <a:t>−0.006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949440" y="2340864"/>
            <a:ext cx="21031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059168" y="2414016"/>
            <a:ext cx="1883664" cy="256032"/>
          </a:xfrm>
          <a:prstGeom prst="roundRect">
            <a:avLst>
              <a:gd name="adj" fmla="val 14286"/>
            </a:avLst>
          </a:prstGeom>
          <a:solidFill>
            <a:srgbClr val="E2E8F0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59168" y="2414016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75569"/>
                </a:solidFill>
              </a:rPr>
              <a:t>Negligible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74320" y="2798064"/>
            <a:ext cx="274320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7472" y="2798064"/>
            <a:ext cx="25968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</a:rPr>
              <a:t>customer_count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017520" y="2798064"/>
            <a:ext cx="274320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090672" y="2798064"/>
            <a:ext cx="25968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</a:rPr>
              <a:t>annual_revenue_million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760720" y="2798064"/>
            <a:ext cx="118872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833872" y="2798064"/>
            <a:ext cx="10424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4748B"/>
                </a:solidFill>
              </a:rPr>
              <a:t>−0.003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949440" y="2798064"/>
            <a:ext cx="210312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059168" y="2871216"/>
            <a:ext cx="1883664" cy="256032"/>
          </a:xfrm>
          <a:prstGeom prst="roundRect">
            <a:avLst>
              <a:gd name="adj" fmla="val 14286"/>
            </a:avLst>
          </a:prstGeom>
          <a:solidFill>
            <a:srgbClr val="E2E8F0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059168" y="2871216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75569"/>
                </a:solidFill>
              </a:rPr>
              <a:t>Negligible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274320" y="3255264"/>
            <a:ext cx="2743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47472" y="3255264"/>
            <a:ext cx="25968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</a:rPr>
              <a:t>employee_count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017520" y="3255264"/>
            <a:ext cx="2743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090672" y="3255264"/>
            <a:ext cx="25968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</a:rPr>
              <a:t>customer_count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760720" y="3255264"/>
            <a:ext cx="11887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833872" y="3255264"/>
            <a:ext cx="10424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4748B"/>
                </a:solidFill>
              </a:rPr>
              <a:t>−0.012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6949440" y="3255264"/>
            <a:ext cx="21031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059168" y="3328416"/>
            <a:ext cx="1883664" cy="256032"/>
          </a:xfrm>
          <a:prstGeom prst="roundRect">
            <a:avLst>
              <a:gd name="adj" fmla="val 14286"/>
            </a:avLst>
          </a:prstGeom>
          <a:solidFill>
            <a:srgbClr val="E2E8F0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059168" y="3328416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75569"/>
                </a:solidFill>
              </a:rPr>
              <a:t>Negligible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274320" y="3712464"/>
            <a:ext cx="274320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47472" y="3712464"/>
            <a:ext cx="25968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</a:rPr>
              <a:t>founded_year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3017520" y="3712464"/>
            <a:ext cx="274320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090672" y="3712464"/>
            <a:ext cx="25968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</a:rPr>
              <a:t>annual_revenue_million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5760720" y="3712464"/>
            <a:ext cx="118872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833872" y="3712464"/>
            <a:ext cx="10424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4748B"/>
                </a:solidFill>
              </a:rPr>
              <a:t>−0.012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6949440" y="3712464"/>
            <a:ext cx="210312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059168" y="3785616"/>
            <a:ext cx="1883664" cy="256032"/>
          </a:xfrm>
          <a:prstGeom prst="roundRect">
            <a:avLst>
              <a:gd name="adj" fmla="val 14286"/>
            </a:avLst>
          </a:prstGeom>
          <a:solidFill>
            <a:srgbClr val="E2E8F0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059168" y="3785616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75569"/>
                </a:solidFill>
              </a:rPr>
              <a:t>Negligible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274320" y="4242816"/>
            <a:ext cx="8595360" cy="676656"/>
          </a:xfrm>
          <a:prstGeom prst="rect">
            <a:avLst/>
          </a:prstGeom>
          <a:solidFill>
            <a:srgbClr val="102040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74320" y="4242816"/>
            <a:ext cx="8595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All correlations are extremely weak and close to zero.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Variables are statistically independent — no multicollinearity issues.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321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Correlation Matrix Heatmap — Full 6×6 Grid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778240" y="0"/>
            <a:ext cx="365760" cy="713232"/>
          </a:xfrm>
          <a:prstGeom prst="rect">
            <a:avLst/>
          </a:prstGeom>
          <a:solidFill>
            <a:srgbClr val="0A8A7C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68096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Color intensity reflects correlation strength. All near zero = no significant relationships.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481328" y="676656"/>
            <a:ext cx="950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</a:rPr>
              <a:t>emp_count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2432304" y="676656"/>
            <a:ext cx="950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</a:rPr>
              <a:t>revenue_M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3383280" y="676656"/>
            <a:ext cx="950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</a:rPr>
              <a:t>profit_%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4334256" y="676656"/>
            <a:ext cx="950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</a:rPr>
              <a:t>fnd_year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5285232" y="676656"/>
            <a:ext cx="950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</a:rPr>
              <a:t>cust_cnt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6236208" y="676656"/>
            <a:ext cx="950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</a:rPr>
              <a:t>mkt_rating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274320" y="1060704"/>
            <a:ext cx="1170432" cy="530352"/>
          </a:xfrm>
          <a:prstGeom prst="rect">
            <a:avLst/>
          </a:prstGeom>
          <a:solidFill>
            <a:srgbClr val="0D1B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1060704"/>
            <a:ext cx="11704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</a:rPr>
              <a:t>emp_count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1481328" y="1060704"/>
            <a:ext cx="950976" cy="530352"/>
          </a:xfrm>
          <a:prstGeom prst="rect">
            <a:avLst/>
          </a:prstGeom>
          <a:solidFill>
            <a:srgbClr val="0A8A7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81328" y="1060704"/>
            <a:ext cx="950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1.0000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432304" y="1060704"/>
            <a:ext cx="950976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32304" y="1060704"/>
            <a:ext cx="950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-0.0020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383280" y="1060704"/>
            <a:ext cx="950976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0" y="1060704"/>
            <a:ext cx="950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-0.0027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334256" y="1060704"/>
            <a:ext cx="950976" cy="530352"/>
          </a:xfrm>
          <a:prstGeom prst="rect">
            <a:avLst/>
          </a:prstGeom>
          <a:solidFill>
            <a:srgbClr val="5EEA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34256" y="1060704"/>
            <a:ext cx="950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0.0212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285232" y="1060704"/>
            <a:ext cx="950976" cy="530352"/>
          </a:xfrm>
          <a:prstGeom prst="rect">
            <a:avLst/>
          </a:prstGeom>
          <a:solidFill>
            <a:srgbClr val="5EEA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85232" y="1060704"/>
            <a:ext cx="950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-0.0124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236208" y="1060704"/>
            <a:ext cx="950976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36208" y="1060704"/>
            <a:ext cx="950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-0.0094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1591056"/>
            <a:ext cx="1170432" cy="530352"/>
          </a:xfrm>
          <a:prstGeom prst="rect">
            <a:avLst/>
          </a:prstGeom>
          <a:solidFill>
            <a:srgbClr val="0D1B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1591056"/>
            <a:ext cx="11704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</a:rPr>
              <a:t>revenue_M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1481328" y="1591056"/>
            <a:ext cx="950976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81328" y="1591056"/>
            <a:ext cx="950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-0.0020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432304" y="1591056"/>
            <a:ext cx="950976" cy="530352"/>
          </a:xfrm>
          <a:prstGeom prst="rect">
            <a:avLst/>
          </a:prstGeom>
          <a:solidFill>
            <a:srgbClr val="0A8A7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432304" y="1591056"/>
            <a:ext cx="950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1.0000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383280" y="1591056"/>
            <a:ext cx="950976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83280" y="1591056"/>
            <a:ext cx="950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-0.0031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334256" y="1591056"/>
            <a:ext cx="950976" cy="530352"/>
          </a:xfrm>
          <a:prstGeom prst="rect">
            <a:avLst/>
          </a:prstGeom>
          <a:solidFill>
            <a:srgbClr val="5EEA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34256" y="1591056"/>
            <a:ext cx="950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-0.0118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285232" y="1591056"/>
            <a:ext cx="950976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85232" y="1591056"/>
            <a:ext cx="950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-0.0027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236208" y="1591056"/>
            <a:ext cx="950976" cy="530352"/>
          </a:xfrm>
          <a:prstGeom prst="rect">
            <a:avLst/>
          </a:prstGeom>
          <a:solidFill>
            <a:srgbClr val="5EEA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36208" y="1591056"/>
            <a:ext cx="950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0.0146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74320" y="2121408"/>
            <a:ext cx="1170432" cy="530352"/>
          </a:xfrm>
          <a:prstGeom prst="rect">
            <a:avLst/>
          </a:prstGeom>
          <a:solidFill>
            <a:srgbClr val="0D1B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2121408"/>
            <a:ext cx="11704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</a:rPr>
              <a:t>profit_%</a:t>
            </a:r>
            <a:endParaRPr lang="en-US" sz="780" dirty="0"/>
          </a:p>
        </p:txBody>
      </p:sp>
      <p:sp>
        <p:nvSpPr>
          <p:cNvPr id="48" name="Shape 46"/>
          <p:cNvSpPr/>
          <p:nvPr/>
        </p:nvSpPr>
        <p:spPr>
          <a:xfrm>
            <a:off x="1481328" y="2121408"/>
            <a:ext cx="950976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481328" y="2121408"/>
            <a:ext cx="950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-0.0027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432304" y="2121408"/>
            <a:ext cx="950976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432304" y="2121408"/>
            <a:ext cx="950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-0.0031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383280" y="2121408"/>
            <a:ext cx="950976" cy="530352"/>
          </a:xfrm>
          <a:prstGeom prst="rect">
            <a:avLst/>
          </a:prstGeom>
          <a:solidFill>
            <a:srgbClr val="0A8A7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383280" y="2121408"/>
            <a:ext cx="950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1.0000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334256" y="2121408"/>
            <a:ext cx="950976" cy="530352"/>
          </a:xfrm>
          <a:prstGeom prst="rect">
            <a:avLst/>
          </a:prstGeom>
          <a:solidFill>
            <a:srgbClr val="5EEA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334256" y="2121408"/>
            <a:ext cx="950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0.0124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285232" y="2121408"/>
            <a:ext cx="950976" cy="530352"/>
          </a:xfrm>
          <a:prstGeom prst="rect">
            <a:avLst/>
          </a:prstGeom>
          <a:solidFill>
            <a:srgbClr val="5EEA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285232" y="2121408"/>
            <a:ext cx="950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0.0113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236208" y="2121408"/>
            <a:ext cx="950976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236208" y="2121408"/>
            <a:ext cx="950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-0.0061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274320" y="2651760"/>
            <a:ext cx="1170432" cy="530352"/>
          </a:xfrm>
          <a:prstGeom prst="rect">
            <a:avLst/>
          </a:prstGeom>
          <a:solidFill>
            <a:srgbClr val="0D1B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74320" y="2651760"/>
            <a:ext cx="11704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</a:rPr>
              <a:t>fnd_year</a:t>
            </a:r>
            <a:endParaRPr lang="en-US" sz="780" dirty="0"/>
          </a:p>
        </p:txBody>
      </p:sp>
      <p:sp>
        <p:nvSpPr>
          <p:cNvPr id="62" name="Shape 60"/>
          <p:cNvSpPr/>
          <p:nvPr/>
        </p:nvSpPr>
        <p:spPr>
          <a:xfrm>
            <a:off x="1481328" y="2651760"/>
            <a:ext cx="950976" cy="530352"/>
          </a:xfrm>
          <a:prstGeom prst="rect">
            <a:avLst/>
          </a:prstGeom>
          <a:solidFill>
            <a:srgbClr val="5EEA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481328" y="2651760"/>
            <a:ext cx="950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0.0212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2432304" y="2651760"/>
            <a:ext cx="950976" cy="530352"/>
          </a:xfrm>
          <a:prstGeom prst="rect">
            <a:avLst/>
          </a:prstGeom>
          <a:solidFill>
            <a:srgbClr val="5EEA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432304" y="2651760"/>
            <a:ext cx="950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-0.0118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3383280" y="2651760"/>
            <a:ext cx="950976" cy="530352"/>
          </a:xfrm>
          <a:prstGeom prst="rect">
            <a:avLst/>
          </a:prstGeom>
          <a:solidFill>
            <a:srgbClr val="5EEA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383280" y="2651760"/>
            <a:ext cx="950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0.0124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334256" y="2651760"/>
            <a:ext cx="950976" cy="530352"/>
          </a:xfrm>
          <a:prstGeom prst="rect">
            <a:avLst/>
          </a:prstGeom>
          <a:solidFill>
            <a:srgbClr val="0A8A7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334256" y="2651760"/>
            <a:ext cx="950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1.0000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5285232" y="2651760"/>
            <a:ext cx="950976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285232" y="2651760"/>
            <a:ext cx="950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-0.0084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6236208" y="2651760"/>
            <a:ext cx="950976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236208" y="2651760"/>
            <a:ext cx="950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0.0075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274320" y="3182112"/>
            <a:ext cx="1170432" cy="530352"/>
          </a:xfrm>
          <a:prstGeom prst="rect">
            <a:avLst/>
          </a:prstGeom>
          <a:solidFill>
            <a:srgbClr val="0D1B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74320" y="3182112"/>
            <a:ext cx="11704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</a:rPr>
              <a:t>cust_cnt</a:t>
            </a:r>
            <a:endParaRPr lang="en-US" sz="780" dirty="0"/>
          </a:p>
        </p:txBody>
      </p:sp>
      <p:sp>
        <p:nvSpPr>
          <p:cNvPr id="76" name="Shape 74"/>
          <p:cNvSpPr/>
          <p:nvPr/>
        </p:nvSpPr>
        <p:spPr>
          <a:xfrm>
            <a:off x="1481328" y="3182112"/>
            <a:ext cx="950976" cy="530352"/>
          </a:xfrm>
          <a:prstGeom prst="rect">
            <a:avLst/>
          </a:prstGeom>
          <a:solidFill>
            <a:srgbClr val="5EEA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481328" y="3182112"/>
            <a:ext cx="950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-0.0124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2432304" y="3182112"/>
            <a:ext cx="950976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432304" y="3182112"/>
            <a:ext cx="950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-0.0027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3383280" y="3182112"/>
            <a:ext cx="950976" cy="530352"/>
          </a:xfrm>
          <a:prstGeom prst="rect">
            <a:avLst/>
          </a:prstGeom>
          <a:solidFill>
            <a:srgbClr val="5EEA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383280" y="3182112"/>
            <a:ext cx="950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0.0113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4334256" y="3182112"/>
            <a:ext cx="950976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334256" y="3182112"/>
            <a:ext cx="950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-0.0084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5285232" y="3182112"/>
            <a:ext cx="950976" cy="530352"/>
          </a:xfrm>
          <a:prstGeom prst="rect">
            <a:avLst/>
          </a:prstGeom>
          <a:solidFill>
            <a:srgbClr val="0A8A7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285232" y="3182112"/>
            <a:ext cx="950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1.0000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6236208" y="3182112"/>
            <a:ext cx="950976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236208" y="3182112"/>
            <a:ext cx="950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-0.0048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274320" y="3712464"/>
            <a:ext cx="1170432" cy="530352"/>
          </a:xfrm>
          <a:prstGeom prst="rect">
            <a:avLst/>
          </a:prstGeom>
          <a:solidFill>
            <a:srgbClr val="0D1B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274320" y="3712464"/>
            <a:ext cx="11704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</a:rPr>
              <a:t>mkt_rating</a:t>
            </a:r>
            <a:endParaRPr lang="en-US" sz="780" dirty="0"/>
          </a:p>
        </p:txBody>
      </p:sp>
      <p:sp>
        <p:nvSpPr>
          <p:cNvPr id="90" name="Shape 88"/>
          <p:cNvSpPr/>
          <p:nvPr/>
        </p:nvSpPr>
        <p:spPr>
          <a:xfrm>
            <a:off x="1481328" y="3712464"/>
            <a:ext cx="950976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481328" y="3712464"/>
            <a:ext cx="950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-0.0094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2432304" y="3712464"/>
            <a:ext cx="950976" cy="530352"/>
          </a:xfrm>
          <a:prstGeom prst="rect">
            <a:avLst/>
          </a:prstGeom>
          <a:solidFill>
            <a:srgbClr val="5EEA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2432304" y="3712464"/>
            <a:ext cx="950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0.0146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3383280" y="3712464"/>
            <a:ext cx="950976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383280" y="3712464"/>
            <a:ext cx="950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-0.0061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4334256" y="3712464"/>
            <a:ext cx="950976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334256" y="3712464"/>
            <a:ext cx="950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0.0075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5285232" y="3712464"/>
            <a:ext cx="950976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5285232" y="3712464"/>
            <a:ext cx="950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-0.0048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6236208" y="3712464"/>
            <a:ext cx="950976" cy="530352"/>
          </a:xfrm>
          <a:prstGeom prst="rect">
            <a:avLst/>
          </a:prstGeom>
          <a:solidFill>
            <a:srgbClr val="0A8A7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236208" y="3712464"/>
            <a:ext cx="950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1.0000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274320" y="4370832"/>
            <a:ext cx="859536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103" name="Text 101"/>
          <p:cNvSpPr/>
          <p:nvPr/>
        </p:nvSpPr>
        <p:spPr>
          <a:xfrm>
            <a:off x="274320" y="4370832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BD5E1"/>
                </a:solidFill>
              </a:rPr>
              <a:t>[ INSERT SEABORN HEATMAP IMAGE HERE ]  —  plt.figure() + sns.heatmap(df.corr(), annot=True)</a:t>
            </a:r>
            <a:endParaRPr lang="en-US" sz="1000" dirty="0"/>
          </a:p>
        </p:txBody>
      </p:sp>
      <p:pic>
        <p:nvPicPr>
          <p:cNvPr id="105" name="Picture 104">
            <a:extLst>
              <a:ext uri="{FF2B5EF4-FFF2-40B4-BE49-F238E27FC236}">
                <a16:creationId xmlns:a16="http://schemas.microsoft.com/office/drawing/2014/main" id="{309637A0-96D8-6FE2-A844-0D30F7399D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016" y="1078992"/>
            <a:ext cx="7801364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321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Industry &amp; Country Distribution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778240" y="0"/>
            <a:ext cx="365760" cy="713232"/>
          </a:xfrm>
          <a:prstGeom prst="rect">
            <a:avLst/>
          </a:prstGeom>
          <a:solidFill>
            <a:srgbClr val="0A8A7C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4160520" cy="3035808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4160520" cy="347472"/>
          </a:xfrm>
          <a:prstGeom prst="rect">
            <a:avLst/>
          </a:prstGeom>
          <a:solidFill>
            <a:srgbClr val="0A8A7C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2296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Industry Distribution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" y="1243584"/>
            <a:ext cx="400507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335024"/>
            <a:ext cx="237744" cy="237744"/>
          </a:xfrm>
          <a:prstGeom prst="ellipse">
            <a:avLst/>
          </a:prstGeom>
          <a:solidFill>
            <a:srgbClr val="0A8A7C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243584"/>
            <a:ext cx="1508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Finance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0" y="1353312"/>
            <a:ext cx="1280160" cy="201168"/>
          </a:xfrm>
          <a:prstGeom prst="rect">
            <a:avLst/>
          </a:prstGeom>
          <a:solidFill>
            <a:srgbClr val="0A8A7C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21024" y="1243584"/>
            <a:ext cx="6583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3,000 (20%)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47472" y="1719072"/>
            <a:ext cx="4005072" cy="420624"/>
          </a:xfrm>
          <a:prstGeom prst="rect">
            <a:avLst/>
          </a:prstGeom>
          <a:solidFill>
            <a:srgbClr val="E8EFF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1810512"/>
            <a:ext cx="237744" cy="237744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1719072"/>
            <a:ext cx="1508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Technology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0" y="1828800"/>
            <a:ext cx="1280160" cy="20116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21024" y="1719072"/>
            <a:ext cx="6583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3,000 (20%)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47472" y="2194560"/>
            <a:ext cx="400507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2286000"/>
            <a:ext cx="237744" cy="23774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2194560"/>
            <a:ext cx="1508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Retail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286000" y="2304288"/>
            <a:ext cx="1280160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21024" y="2194560"/>
            <a:ext cx="6583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3,000 (20%)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47472" y="2670048"/>
            <a:ext cx="4005072" cy="420624"/>
          </a:xfrm>
          <a:prstGeom prst="rect">
            <a:avLst/>
          </a:prstGeom>
          <a:solidFill>
            <a:srgbClr val="E8EFF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2761488"/>
            <a:ext cx="237744" cy="23774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2670048"/>
            <a:ext cx="1508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Manufacturing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286000" y="2779776"/>
            <a:ext cx="1280160" cy="20116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21024" y="2670048"/>
            <a:ext cx="6583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3,000 (20%)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47472" y="3145536"/>
            <a:ext cx="400507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1480" y="3236976"/>
            <a:ext cx="237744" cy="237744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3145536"/>
            <a:ext cx="1508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Healthcare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286000" y="3255264"/>
            <a:ext cx="1280160" cy="2011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21024" y="3145536"/>
            <a:ext cx="6583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3,000 (20%)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47472" y="3547872"/>
            <a:ext cx="4005072" cy="237744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" y="3547872"/>
            <a:ext cx="4005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66534"/>
                </a:solidFill>
              </a:rPr>
              <a:t>✓ Perfectly balanced — 3,000 companies per industry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63440" y="822960"/>
            <a:ext cx="4206240" cy="3035808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63440" y="822960"/>
            <a:ext cx="4206240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63440" y="82296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Country Distribution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663440" y="1243584"/>
            <a:ext cx="42062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54880" y="1371600"/>
            <a:ext cx="237744" cy="237744"/>
          </a:xfrm>
          <a:prstGeom prst="ellipse">
            <a:avLst/>
          </a:prstGeom>
          <a:solidFill>
            <a:srgbClr val="0A8A7C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74920" y="1243584"/>
            <a:ext cx="1280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India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19088" y="1389888"/>
            <a:ext cx="1188720" cy="219456"/>
          </a:xfrm>
          <a:prstGeom prst="rect">
            <a:avLst/>
          </a:prstGeom>
          <a:solidFill>
            <a:srgbClr val="0A8A7C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62672" y="1243584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3,750 (25%)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663440" y="1810512"/>
            <a:ext cx="4206240" cy="512064"/>
          </a:xfrm>
          <a:prstGeom prst="rect">
            <a:avLst/>
          </a:prstGeom>
          <a:solidFill>
            <a:srgbClr val="E8EFF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54880" y="1938528"/>
            <a:ext cx="237744" cy="237744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74920" y="1810512"/>
            <a:ext cx="1280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Germany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419088" y="1956816"/>
            <a:ext cx="1188720" cy="219456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662672" y="1810512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3,750 (25%)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63440" y="2377440"/>
            <a:ext cx="42062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754880" y="2505456"/>
            <a:ext cx="237744" cy="237744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74920" y="2377440"/>
            <a:ext cx="1280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Canada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419088" y="2523744"/>
            <a:ext cx="1188720" cy="219456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662672" y="2377440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3,750 (25%)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663440" y="2944368"/>
            <a:ext cx="4206240" cy="512064"/>
          </a:xfrm>
          <a:prstGeom prst="rect">
            <a:avLst/>
          </a:prstGeom>
          <a:solidFill>
            <a:srgbClr val="E8EFF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754880" y="3072384"/>
            <a:ext cx="237744" cy="23774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74920" y="2944368"/>
            <a:ext cx="1280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USA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419088" y="3090672"/>
            <a:ext cx="1188720" cy="21945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662672" y="2944368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3,750 (25%)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663440" y="3547872"/>
            <a:ext cx="4187952" cy="237744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663440" y="3547872"/>
            <a:ext cx="4187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66534"/>
                </a:solidFill>
              </a:rPr>
              <a:t>✓ Perfectly balanced — 3,750 companies per country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274320" y="3877056"/>
            <a:ext cx="8595360" cy="104241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61" name="Shape 59"/>
          <p:cNvSpPr/>
          <p:nvPr/>
        </p:nvSpPr>
        <p:spPr>
          <a:xfrm>
            <a:off x="274320" y="3877056"/>
            <a:ext cx="8595360" cy="2743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74320" y="3877056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Bar / Pie Charts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274320" y="4169664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BD5E1"/>
                </a:solidFill>
              </a:rPr>
              <a:t>[ INSERT: Industry bar chart (left) + Country bar/pie chart (right) ]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321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Business Insights — Avg Revenue, Profit, Rating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778240" y="0"/>
            <a:ext cx="365760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804672"/>
            <a:ext cx="2871216" cy="2578608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804672"/>
            <a:ext cx="2871216" cy="329184"/>
          </a:xfrm>
          <a:prstGeom prst="rect">
            <a:avLst/>
          </a:prstGeom>
          <a:solidFill>
            <a:srgbClr val="0A8A7C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804672"/>
            <a:ext cx="2871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Avg Revenue (M) by Industry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47472" y="118872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</a:rPr>
              <a:t>Retail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572768" y="1252728"/>
            <a:ext cx="1140782" cy="201168"/>
          </a:xfrm>
          <a:prstGeom prst="rect">
            <a:avLst/>
          </a:prstGeom>
          <a:solidFill>
            <a:srgbClr val="0A8A7C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50126" y="1188720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$556.61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47472" y="1591056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</a:rPr>
              <a:t>Finance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572768" y="1655064"/>
            <a:ext cx="1133014" cy="201168"/>
          </a:xfrm>
          <a:prstGeom prst="rect">
            <a:avLst/>
          </a:prstGeom>
          <a:solidFill>
            <a:srgbClr val="0A8A7C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2358" y="1591056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$552.82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7472" y="1993392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</a:rPr>
              <a:t>Technology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572768" y="2057400"/>
            <a:ext cx="1127644" cy="201168"/>
          </a:xfrm>
          <a:prstGeom prst="rect">
            <a:avLst/>
          </a:prstGeom>
          <a:solidFill>
            <a:srgbClr val="0A8A7C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36988" y="1993392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$550.20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7472" y="2395728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</a:rPr>
              <a:t>Manufacturing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572768" y="2459736"/>
            <a:ext cx="1118176" cy="201168"/>
          </a:xfrm>
          <a:prstGeom prst="rect">
            <a:avLst/>
          </a:prstGeom>
          <a:solidFill>
            <a:srgbClr val="0A8A7C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27520" y="2395728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$545.58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7472" y="2798064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</a:rPr>
              <a:t>Healthcare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572768" y="2862072"/>
            <a:ext cx="1113831" cy="201168"/>
          </a:xfrm>
          <a:prstGeom prst="rect">
            <a:avLst/>
          </a:prstGeom>
          <a:solidFill>
            <a:srgbClr val="0A8A7C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23175" y="2798064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$543.46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55264" y="804672"/>
            <a:ext cx="2871216" cy="2578608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55264" y="804672"/>
            <a:ext cx="2871216" cy="329184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55264" y="804672"/>
            <a:ext cx="2871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Avg Profit Margin % by Industry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46704" y="118872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</a:rPr>
              <a:t>Finance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0" y="1252728"/>
            <a:ext cx="1002487" cy="2011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11063" y="1188720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25.30%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346704" y="1591056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</a:rPr>
              <a:t>Retail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0" y="1655064"/>
            <a:ext cx="994166" cy="2011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02742" y="1591056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25.09%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346704" y="1993392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</a:rPr>
              <a:t>Technology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0" y="2057400"/>
            <a:ext cx="991789" cy="2011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00365" y="1993392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25.03%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346704" y="2395728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</a:rPr>
              <a:t>Healthcare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572000" y="2459736"/>
            <a:ext cx="985845" cy="2011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94421" y="2395728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24.88%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346704" y="2798064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</a:rPr>
              <a:t>Manufacturing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72000" y="2862072"/>
            <a:ext cx="981090" cy="2011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89666" y="2798064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24.76%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254496" y="804672"/>
            <a:ext cx="2633472" cy="2578608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254496" y="804672"/>
            <a:ext cx="2633472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54496" y="804672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Avg Market Rating by Industry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345936" y="1188720"/>
            <a:ext cx="11704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</a:rPr>
              <a:t>Retail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552944" y="118872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★ 2.55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345936" y="1591056"/>
            <a:ext cx="11704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</a:rPr>
              <a:t>Healthcare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7552944" y="1591056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★ 2.52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345936" y="1993392"/>
            <a:ext cx="11704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</a:rPr>
              <a:t>Finance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7552944" y="1993392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★ 2.51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345936" y="2395728"/>
            <a:ext cx="11704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</a:rPr>
              <a:t>Technology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7552944" y="2395728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★ 2.50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345936" y="2798064"/>
            <a:ext cx="11704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</a:rPr>
              <a:t>Manufacturing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7552944" y="2798064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★ 2.49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256032" y="3474720"/>
            <a:ext cx="4251960" cy="1444752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256032" y="3474720"/>
            <a:ext cx="4251960" cy="310896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56032" y="3474720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Avg Revenue by Country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384048" y="3858768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3E"/>
                </a:solidFill>
              </a:rPr>
              <a:t>USA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384048" y="4059936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8A7C"/>
                </a:solidFill>
              </a:rPr>
              <a:t>$552.91M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93776" y="4297680"/>
            <a:ext cx="713232" cy="18288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408176" y="3858768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3E"/>
                </a:solidFill>
              </a:rPr>
              <a:t>India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1408176" y="4059936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8A7C"/>
                </a:solidFill>
              </a:rPr>
              <a:t>$551.87M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1517904" y="4297680"/>
            <a:ext cx="713232" cy="18288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432304" y="3858768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3E"/>
                </a:solidFill>
              </a:rPr>
              <a:t>Canada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2432304" y="4059936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8A7C"/>
                </a:solidFill>
              </a:rPr>
              <a:t>$548.38M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2542032" y="4297680"/>
            <a:ext cx="713232" cy="18288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456432" y="3858768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3E"/>
                </a:solidFill>
              </a:rPr>
              <a:t>Germany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3456432" y="4059936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8A7C"/>
                </a:solidFill>
              </a:rPr>
              <a:t>$545.78M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3566160" y="4297680"/>
            <a:ext cx="713232" cy="18288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681728" y="3474720"/>
            <a:ext cx="4206240" cy="1444752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4681728" y="3474720"/>
            <a:ext cx="4206240" cy="310896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681728" y="347472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Avg Revenue by Region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4791456" y="3858768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3E"/>
                </a:solidFill>
              </a:rPr>
              <a:t>Asia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4791456" y="4059936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8A7C"/>
                </a:solidFill>
              </a:rPr>
              <a:t>$551.87M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901184" y="4297680"/>
            <a:ext cx="960120" cy="1828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144768" y="3858768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3E"/>
                </a:solidFill>
              </a:rPr>
              <a:t>N. America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6144768" y="4059936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8A7C"/>
                </a:solidFill>
              </a:rPr>
              <a:t>$550.64M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6254496" y="4297680"/>
            <a:ext cx="960120" cy="1828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498080" y="3858768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3E"/>
                </a:solidFill>
              </a:rPr>
              <a:t>Europe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7498080" y="4059936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8A7C"/>
                </a:solidFill>
              </a:rPr>
              <a:t>$545.78M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7607808" y="4297680"/>
            <a:ext cx="960120" cy="1828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321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Graphs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778240" y="0"/>
            <a:ext cx="365760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841248"/>
            <a:ext cx="2816352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dash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56032" y="841248"/>
            <a:ext cx="2816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Avg Revenue by Industry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56032" y="1188720"/>
            <a:ext cx="28163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BD5E1"/>
                </a:solidFill>
              </a:rPr>
              <a:t>[ INSERT GRAPH ]</a:t>
            </a:r>
            <a:endParaRPr lang="en-US" sz="85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CBD5E1"/>
                </a:solidFill>
              </a:rPr>
              <a:t>Bar chart: sns.barplot(x='industry', y='annual_revenue_million')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00400" y="841248"/>
            <a:ext cx="2816352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dash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0" y="841248"/>
            <a:ext cx="2816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Avg Profit Margin by Industry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200400" y="1188720"/>
            <a:ext cx="28163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BD5E1"/>
                </a:solidFill>
              </a:rPr>
              <a:t>[ INSERT GRAPH ]</a:t>
            </a:r>
            <a:endParaRPr lang="en-US" sz="85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CBD5E1"/>
                </a:solidFill>
              </a:rPr>
              <a:t>Bar chart: sns.barplot(x='industry', y='profit_margin_percent')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44768" y="841248"/>
            <a:ext cx="2816352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dash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44768" y="841248"/>
            <a:ext cx="2816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Avg Market Rating by Industry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144768" y="1188720"/>
            <a:ext cx="28163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BD5E1"/>
                </a:solidFill>
              </a:rPr>
              <a:t>[ INSERT GRAPH ]</a:t>
            </a:r>
            <a:endParaRPr lang="en-US" sz="85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CBD5E1"/>
                </a:solidFill>
              </a:rPr>
              <a:t>Bar chart: sns.barplot(x='industry', y='market_rating')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56032" y="2962656"/>
            <a:ext cx="2816352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dash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56032" y="2962656"/>
            <a:ext cx="2816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Avg Revenue by Country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56032" y="3310128"/>
            <a:ext cx="28163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BD5E1"/>
                </a:solidFill>
              </a:rPr>
              <a:t>[ INSERT GRAPH ]</a:t>
            </a:r>
            <a:endParaRPr lang="en-US" sz="85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CBD5E1"/>
                </a:solidFill>
              </a:rPr>
              <a:t>Bar chart: sns.barplot(x='country', y='annual_revenue_million')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00400" y="2962656"/>
            <a:ext cx="2816352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dash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00400" y="2962656"/>
            <a:ext cx="2816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Avg Revenue by Region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200400" y="3310128"/>
            <a:ext cx="28163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BD5E1"/>
                </a:solidFill>
              </a:rPr>
              <a:t>[ INSERT GRAPH ]</a:t>
            </a:r>
            <a:endParaRPr lang="en-US" sz="85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CBD5E1"/>
                </a:solidFill>
              </a:rPr>
              <a:t>Bar chart: sns.barplot(x='region', y='annual_revenue_million')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144768" y="2962656"/>
            <a:ext cx="2816352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dash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144768" y="2962656"/>
            <a:ext cx="2816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Scatter: Employee Count vs Revenue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144768" y="3310128"/>
            <a:ext cx="28163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BD5E1"/>
                </a:solidFill>
              </a:rPr>
              <a:t>[ INSERT GRAPH ]</a:t>
            </a:r>
            <a:endParaRPr lang="en-US" sz="85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CBD5E1"/>
                </a:solidFill>
              </a:rPr>
              <a:t>Scatter: sns.scatterplot(x='employee_count', y='annual_revenue_million')</a:t>
            </a:r>
            <a:endParaRPr lang="en-US" sz="85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B1D19C47-9F64-C189-4EE8-736585ED9F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" y="797809"/>
            <a:ext cx="2944368" cy="2164847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BB3C6016-DEF2-68F4-5EB2-72070BD741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2756" y="841248"/>
            <a:ext cx="2869809" cy="192024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AF1C85B-8CE9-6828-7868-E32E0D9CB4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4921" y="841249"/>
            <a:ext cx="2881063" cy="192024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C2CB07DF-5677-0E72-C5AC-7A6221FB59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422" y="2962656"/>
            <a:ext cx="2942961" cy="192024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2933D6D-2B2C-B573-D380-3229411B6FE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2178" y="2962656"/>
            <a:ext cx="2740387" cy="192024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344AE78B-7EA3-16D9-4B6C-9E84D3A6467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9632" y="3017520"/>
            <a:ext cx="2881063" cy="186537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280160"/>
            <a:ext cx="4114800" cy="4114800"/>
          </a:xfrm>
          <a:prstGeom prst="ellipse">
            <a:avLst/>
          </a:prstGeom>
          <a:solidFill>
            <a:srgbClr val="0A8A7C">
              <a:alpha val="13000"/>
            </a:srgbClr>
          </a:solidFill>
          <a:ln w="12700">
            <a:solidFill>
              <a:srgbClr val="0A8A7C">
                <a:alpha val="24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108960"/>
            <a:ext cx="3200400" cy="3200400"/>
          </a:xfrm>
          <a:prstGeom prst="ellipse">
            <a:avLst/>
          </a:prstGeom>
          <a:solidFill>
            <a:srgbClr val="0FC2B0">
              <a:alpha val="12000"/>
            </a:srgbClr>
          </a:solidFill>
          <a:ln w="12700">
            <a:solidFill>
              <a:srgbClr val="0FC2B0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01168"/>
            <a:ext cx="8503920" cy="45720"/>
          </a:xfrm>
          <a:prstGeom prst="rect">
            <a:avLst/>
          </a:prstGeom>
          <a:solidFill>
            <a:srgbClr val="0A8A7C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92608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kern="0" spc="300" dirty="0">
                <a:solidFill>
                  <a:srgbClr val="FFFFFF"/>
                </a:solidFill>
              </a:rPr>
              <a:t>KEY FINDINGS &amp; CONCLUSION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74320" y="859536"/>
            <a:ext cx="4160520" cy="731520"/>
          </a:xfrm>
          <a:prstGeom prst="rect">
            <a:avLst/>
          </a:prstGeom>
          <a:solidFill>
            <a:srgbClr val="102040"/>
          </a:solidFill>
          <a:ln w="12700">
            <a:solidFill>
              <a:srgbClr val="0A8A7C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60704"/>
            <a:ext cx="292608" cy="292608"/>
          </a:xfrm>
          <a:prstGeom prst="ellipse">
            <a:avLst/>
          </a:prstGeom>
          <a:solidFill>
            <a:srgbClr val="0A8A7C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607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01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31520" y="950976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Dataset contains 15,000 records and 12 variables with 0 missing values and 0 duplicates.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36592" y="859536"/>
            <a:ext cx="4160520" cy="731520"/>
          </a:xfrm>
          <a:prstGeom prst="rect">
            <a:avLst/>
          </a:prstGeom>
          <a:solidFill>
            <a:srgbClr val="102040"/>
          </a:solidFill>
          <a:ln w="12700">
            <a:solidFill>
              <a:srgbClr val="0A8A7C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28032" y="1060704"/>
            <a:ext cx="292608" cy="292608"/>
          </a:xfrm>
          <a:prstGeom prst="ellipse">
            <a:avLst/>
          </a:prstGeom>
          <a:solidFill>
            <a:srgbClr val="0A8A7C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28032" y="10607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02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193792" y="950976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No missing values, duplicate records, or outliers were detected via IQR and Z-score methods.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1664208"/>
            <a:ext cx="4160520" cy="731520"/>
          </a:xfrm>
          <a:prstGeom prst="rect">
            <a:avLst/>
          </a:prstGeom>
          <a:solidFill>
            <a:srgbClr val="102040"/>
          </a:solidFill>
          <a:ln w="12700">
            <a:solidFill>
              <a:srgbClr val="0A8A7C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1865376"/>
            <a:ext cx="292608" cy="292608"/>
          </a:xfrm>
          <a:prstGeom prst="ellipse">
            <a:avLst/>
          </a:prstGeom>
          <a:solidFill>
            <a:srgbClr val="0A8A7C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8653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03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31520" y="1755648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All numerical variables show approximately symmetric distributions (Skewness ≈ 0).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36592" y="1664208"/>
            <a:ext cx="4160520" cy="731520"/>
          </a:xfrm>
          <a:prstGeom prst="rect">
            <a:avLst/>
          </a:prstGeom>
          <a:solidFill>
            <a:srgbClr val="102040"/>
          </a:solidFill>
          <a:ln w="12700">
            <a:solidFill>
              <a:srgbClr val="0A8A7C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28032" y="1865376"/>
            <a:ext cx="292608" cy="292608"/>
          </a:xfrm>
          <a:prstGeom prst="ellipse">
            <a:avLst/>
          </a:prstGeom>
          <a:solidFill>
            <a:srgbClr val="0A8A7C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28032" y="18653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04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193792" y="1755648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All kurtosis values ≈ −1.19 (Platykurtic) — flatter distributions, fewer extreme observations.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2468880"/>
            <a:ext cx="4160520" cy="731520"/>
          </a:xfrm>
          <a:prstGeom prst="rect">
            <a:avLst/>
          </a:prstGeom>
          <a:solidFill>
            <a:srgbClr val="102040"/>
          </a:solidFill>
          <a:ln w="12700">
            <a:solidFill>
              <a:srgbClr val="0A8A7C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2670048"/>
            <a:ext cx="292608" cy="292608"/>
          </a:xfrm>
          <a:prstGeom prst="ellipse">
            <a:avLst/>
          </a:prstGeom>
          <a:solidFill>
            <a:srgbClr val="0A8A7C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26700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05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31520" y="2560320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Correlation analysis revealed negligible relationships among all variable pairs (r ≈ 0).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36592" y="2468880"/>
            <a:ext cx="4160520" cy="731520"/>
          </a:xfrm>
          <a:prstGeom prst="rect">
            <a:avLst/>
          </a:prstGeom>
          <a:solidFill>
            <a:srgbClr val="102040"/>
          </a:solidFill>
          <a:ln w="12700">
            <a:solidFill>
              <a:srgbClr val="0A8A7C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28032" y="2670048"/>
            <a:ext cx="292608" cy="292608"/>
          </a:xfrm>
          <a:prstGeom prst="ellipse">
            <a:avLst/>
          </a:prstGeom>
          <a:solidFill>
            <a:srgbClr val="0A8A7C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28032" y="26700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06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193792" y="2560320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Retail industry recorded the highest average revenue ($556.61M) and market rating (2.55).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3273552"/>
            <a:ext cx="4160520" cy="731520"/>
          </a:xfrm>
          <a:prstGeom prst="rect">
            <a:avLst/>
          </a:prstGeom>
          <a:solidFill>
            <a:srgbClr val="102040"/>
          </a:solidFill>
          <a:ln w="12700">
            <a:solidFill>
              <a:srgbClr val="0A8A7C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65760" y="3474720"/>
            <a:ext cx="292608" cy="292608"/>
          </a:xfrm>
          <a:prstGeom prst="ellipse">
            <a:avLst/>
          </a:prstGeom>
          <a:solidFill>
            <a:srgbClr val="0A8A7C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3474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07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31520" y="3364992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Finance industry recorded the highest average profit margin (25.30%).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36592" y="3273552"/>
            <a:ext cx="4160520" cy="731520"/>
          </a:xfrm>
          <a:prstGeom prst="rect">
            <a:avLst/>
          </a:prstGeom>
          <a:solidFill>
            <a:srgbClr val="102040"/>
          </a:solidFill>
          <a:ln w="12700">
            <a:solidFill>
              <a:srgbClr val="0A8A7C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28032" y="3474720"/>
            <a:ext cx="292608" cy="292608"/>
          </a:xfrm>
          <a:prstGeom prst="ellipse">
            <a:avLst/>
          </a:prstGeom>
          <a:solidFill>
            <a:srgbClr val="0A8A7C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28032" y="3474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08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193792" y="3364992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USA generated the highest average revenue ($552.91M) among all countries.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74320" y="4078224"/>
            <a:ext cx="4160520" cy="731520"/>
          </a:xfrm>
          <a:prstGeom prst="rect">
            <a:avLst/>
          </a:prstGeom>
          <a:solidFill>
            <a:srgbClr val="102040"/>
          </a:solidFill>
          <a:ln w="12700">
            <a:solidFill>
              <a:srgbClr val="0A8A7C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65760" y="4279392"/>
            <a:ext cx="292608" cy="292608"/>
          </a:xfrm>
          <a:prstGeom prst="ellipse">
            <a:avLst/>
          </a:prstGeom>
          <a:solidFill>
            <a:srgbClr val="0A8A7C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2793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09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31520" y="4169664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Business performance remains relatively balanced across all industries and regions.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736592" y="4078224"/>
            <a:ext cx="4160520" cy="731520"/>
          </a:xfrm>
          <a:prstGeom prst="rect">
            <a:avLst/>
          </a:prstGeom>
          <a:solidFill>
            <a:srgbClr val="102040"/>
          </a:solidFill>
          <a:ln w="12700">
            <a:solidFill>
              <a:srgbClr val="0A8A7C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828032" y="4279392"/>
            <a:ext cx="292608" cy="292608"/>
          </a:xfrm>
          <a:prstGeom prst="ellipse">
            <a:avLst/>
          </a:prstGeom>
          <a:solidFill>
            <a:srgbClr val="0A8A7C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28032" y="42793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10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193792" y="4169664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Dataset is clean and suitable for further business intelligence and predictive analytics.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74320" y="4828032"/>
            <a:ext cx="8595360" cy="274320"/>
          </a:xfrm>
          <a:prstGeom prst="rect">
            <a:avLst/>
          </a:prstGeom>
          <a:solidFill>
            <a:srgbClr val="0A8A7C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482803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Libraries: NumPy  •  Pandas  •  Matplotlib  •  Seaborn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60720" y="-1463040"/>
            <a:ext cx="4754880" cy="4754880"/>
          </a:xfrm>
          <a:prstGeom prst="ellipse">
            <a:avLst/>
          </a:prstGeom>
          <a:solidFill>
            <a:srgbClr val="0A8A7C">
              <a:alpha val="15000"/>
            </a:srgbClr>
          </a:solidFill>
          <a:ln w="12700">
            <a:solidFill>
              <a:srgbClr val="0A8A7C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80160" y="2743200"/>
            <a:ext cx="3840480" cy="3840480"/>
          </a:xfrm>
          <a:prstGeom prst="ellipse">
            <a:avLst/>
          </a:prstGeom>
          <a:solidFill>
            <a:srgbClr val="0FC2B0">
              <a:alpha val="13000"/>
            </a:srgbClr>
          </a:solidFill>
          <a:ln w="12700">
            <a:solidFill>
              <a:srgbClr val="0FC2B0">
                <a:alpha val="2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94560" y="457200"/>
            <a:ext cx="4754880" cy="438912"/>
          </a:xfrm>
          <a:prstGeom prst="rect">
            <a:avLst/>
          </a:prstGeom>
          <a:solidFill>
            <a:srgbClr val="0A8A7C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194560" y="457200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NextHikes IT Solutions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170432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31520" y="2176272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0FC2B0"/>
                </a:solidFill>
              </a:rPr>
              <a:t>Exploratory Data Analysis — Industry Performance Dataset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108960" y="2651760"/>
            <a:ext cx="2926080" cy="36576"/>
          </a:xfrm>
          <a:prstGeom prst="rect">
            <a:avLst/>
          </a:prstGeom>
          <a:solidFill>
            <a:srgbClr val="0A8A7C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816352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Presented by: [SWATI MAURYA]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347472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</a:rPr>
              <a:t>[mauryaswati1016@gmail.com]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463040" y="3913632"/>
            <a:ext cx="6217920" cy="438912"/>
          </a:xfrm>
          <a:prstGeom prst="rect">
            <a:avLst/>
          </a:prstGeom>
          <a:solidFill>
            <a:srgbClr val="102040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63040" y="3913632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</a:rPr>
              <a:t>Submission Date: 5th June, 2026  |  NextHikes IT Solutions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1460</Words>
  <Application>Microsoft Office PowerPoint</Application>
  <PresentationFormat>On-screen Show (16:9)</PresentationFormat>
  <Paragraphs>425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swati maurya</cp:lastModifiedBy>
  <cp:revision>2</cp:revision>
  <dcterms:created xsi:type="dcterms:W3CDTF">2026-06-05T06:57:22Z</dcterms:created>
  <dcterms:modified xsi:type="dcterms:W3CDTF">2026-06-05T19:52:36Z</dcterms:modified>
</cp:coreProperties>
</file>